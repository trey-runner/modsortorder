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100" d="100"/>
          <a:sy n="100"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701638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2305659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1868068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1BFB92-BA60-4978-9AFA-A43FF20F986D}"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3819970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1BFB92-BA60-4978-9AFA-A43FF20F986D}"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762927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1BFB92-BA60-4978-9AFA-A43FF20F986D}"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2549500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1BFB92-BA60-4978-9AFA-A43FF20F986D}" type="datetimeFigureOut">
              <a:rPr lang="en-US"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1369717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1BFB92-BA60-4978-9AFA-A43FF20F986D}"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3061085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1D1BFB92-BA60-4978-9AFA-A43FF20F986D}" type="datetimeFigureOut">
              <a:rPr lang="en-US" smtClean="0"/>
              <a:t>5/1/2026</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3341114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1BFB92-BA60-4978-9AFA-A43FF20F986D}"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3065771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2218066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1213439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3939066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1010999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2945531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501631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1BFB92-BA60-4978-9AFA-A43FF20F986D}"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C2BD08-7179-4301-B147-6A5496AD3865}" type="slidenum">
              <a:rPr lang="en-US" smtClean="0"/>
              <a:t>‹#›</a:t>
            </a:fld>
            <a:endParaRPr lang="en-US"/>
          </a:p>
        </p:txBody>
      </p:sp>
    </p:spTree>
    <p:extLst>
      <p:ext uri="{BB962C8B-B14F-4D97-AF65-F5344CB8AC3E}">
        <p14:creationId xmlns:p14="http://schemas.microsoft.com/office/powerpoint/2010/main" val="3434247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D1BFB92-BA60-4978-9AFA-A43FF20F986D}" type="datetimeFigureOut">
              <a:rPr lang="en-US" smtClean="0"/>
              <a:t>5/1/2026</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EC2BD08-7179-4301-B147-6A5496AD3865}" type="slidenum">
              <a:rPr lang="en-US" smtClean="0"/>
              <a:t>‹#›</a:t>
            </a:fld>
            <a:endParaRPr lang="en-US"/>
          </a:p>
        </p:txBody>
      </p:sp>
    </p:spTree>
    <p:extLst>
      <p:ext uri="{BB962C8B-B14F-4D97-AF65-F5344CB8AC3E}">
        <p14:creationId xmlns:p14="http://schemas.microsoft.com/office/powerpoint/2010/main" val="24005596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5B567C4-3B39-1ACC-5009-642569584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5825" y="974341"/>
            <a:ext cx="2800350" cy="3149944"/>
          </a:xfrm>
          <a:prstGeom prst="rect">
            <a:avLst/>
          </a:prstGeom>
        </p:spPr>
      </p:pic>
      <p:grpSp>
        <p:nvGrpSpPr>
          <p:cNvPr id="17" name="Group 16">
            <a:extLst>
              <a:ext uri="{FF2B5EF4-FFF2-40B4-BE49-F238E27FC236}">
                <a16:creationId xmlns:a16="http://schemas.microsoft.com/office/drawing/2014/main" id="{90092C67-B68D-DF77-4715-5510BFB640EA}"/>
              </a:ext>
            </a:extLst>
          </p:cNvPr>
          <p:cNvGrpSpPr/>
          <p:nvPr/>
        </p:nvGrpSpPr>
        <p:grpSpPr>
          <a:xfrm>
            <a:off x="517287" y="1589428"/>
            <a:ext cx="3403152" cy="2526275"/>
            <a:chOff x="2631721" y="2920459"/>
            <a:chExt cx="2474866" cy="1902606"/>
          </a:xfrm>
        </p:grpSpPr>
        <p:pic>
          <p:nvPicPr>
            <p:cNvPr id="7" name="Picture 6">
              <a:extLst>
                <a:ext uri="{FF2B5EF4-FFF2-40B4-BE49-F238E27FC236}">
                  <a16:creationId xmlns:a16="http://schemas.microsoft.com/office/drawing/2014/main" id="{31835B14-8DB5-738C-E20F-CB4C06CC26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1721" y="2920459"/>
              <a:ext cx="2474866" cy="1902606"/>
            </a:xfrm>
            <a:prstGeom prst="rect">
              <a:avLst/>
            </a:prstGeom>
          </p:spPr>
        </p:pic>
        <p:cxnSp>
          <p:nvCxnSpPr>
            <p:cNvPr id="11" name="Straight Arrow Connector 10">
              <a:extLst>
                <a:ext uri="{FF2B5EF4-FFF2-40B4-BE49-F238E27FC236}">
                  <a16:creationId xmlns:a16="http://schemas.microsoft.com/office/drawing/2014/main" id="{76902B12-9B09-E91E-D04B-7435879AA951}"/>
                </a:ext>
              </a:extLst>
            </p:cNvPr>
            <p:cNvCxnSpPr/>
            <p:nvPr/>
          </p:nvCxnSpPr>
          <p:spPr>
            <a:xfrm>
              <a:off x="3070225" y="3238500"/>
              <a:ext cx="63500" cy="149225"/>
            </a:xfrm>
            <a:prstGeom prst="straightConnector1">
              <a:avLst/>
            </a:prstGeom>
            <a:ln>
              <a:solidFill>
                <a:srgbClr val="C00000"/>
              </a:solidFill>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FBDF1D1F-A86F-34AB-61B7-6835270821AB}"/>
                </a:ext>
              </a:extLst>
            </p:cNvPr>
            <p:cNvCxnSpPr/>
            <p:nvPr/>
          </p:nvCxnSpPr>
          <p:spPr>
            <a:xfrm>
              <a:off x="3127375" y="3216275"/>
              <a:ext cx="1016000" cy="98425"/>
            </a:xfrm>
            <a:prstGeom prst="straightConnector1">
              <a:avLst/>
            </a:prstGeom>
            <a:ln>
              <a:solidFill>
                <a:srgbClr val="C00000"/>
              </a:solidFill>
              <a:tailEnd type="triangle"/>
            </a:ln>
          </p:spPr>
          <p:style>
            <a:lnRef idx="1">
              <a:schemeClr val="accent6"/>
            </a:lnRef>
            <a:fillRef idx="0">
              <a:schemeClr val="accent6"/>
            </a:fillRef>
            <a:effectRef idx="0">
              <a:schemeClr val="accent6"/>
            </a:effectRef>
            <a:fontRef idx="minor">
              <a:schemeClr val="tx1"/>
            </a:fontRef>
          </p:style>
        </p:cxnSp>
        <p:sp>
          <p:nvSpPr>
            <p:cNvPr id="14" name="Oval 13">
              <a:extLst>
                <a:ext uri="{FF2B5EF4-FFF2-40B4-BE49-F238E27FC236}">
                  <a16:creationId xmlns:a16="http://schemas.microsoft.com/office/drawing/2014/main" id="{0FA34AEA-5483-34E5-78DA-39C91337AD78}"/>
                </a:ext>
              </a:extLst>
            </p:cNvPr>
            <p:cNvSpPr/>
            <p:nvPr/>
          </p:nvSpPr>
          <p:spPr>
            <a:xfrm>
              <a:off x="2668717" y="3333480"/>
              <a:ext cx="1388933" cy="27359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CD402DE-9C23-E7C0-45CF-81DD6386ECE5}"/>
                </a:ext>
              </a:extLst>
            </p:cNvPr>
            <p:cNvPicPr>
              <a:picLocks noChangeAspect="1"/>
            </p:cNvPicPr>
            <p:nvPr/>
          </p:nvPicPr>
          <p:blipFill>
            <a:blip r:embed="rId4"/>
            <a:stretch>
              <a:fillRect/>
            </a:stretch>
          </p:blipFill>
          <p:spPr>
            <a:xfrm>
              <a:off x="4059543" y="3260859"/>
              <a:ext cx="502931" cy="104505"/>
            </a:xfrm>
            <a:prstGeom prst="rect">
              <a:avLst/>
            </a:prstGeom>
          </p:spPr>
        </p:pic>
      </p:grpSp>
      <p:sp>
        <p:nvSpPr>
          <p:cNvPr id="18" name="TextBox 17">
            <a:extLst>
              <a:ext uri="{FF2B5EF4-FFF2-40B4-BE49-F238E27FC236}">
                <a16:creationId xmlns:a16="http://schemas.microsoft.com/office/drawing/2014/main" id="{D73668D2-CB86-3B49-431A-4D8828779922}"/>
              </a:ext>
            </a:extLst>
          </p:cNvPr>
          <p:cNvSpPr txBox="1"/>
          <p:nvPr/>
        </p:nvSpPr>
        <p:spPr>
          <a:xfrm>
            <a:off x="180051" y="1043650"/>
            <a:ext cx="4077624" cy="253916"/>
          </a:xfrm>
          <a:prstGeom prst="rect">
            <a:avLst/>
          </a:prstGeom>
          <a:noFill/>
        </p:spPr>
        <p:txBody>
          <a:bodyPr wrap="square" rtlCol="0">
            <a:spAutoFit/>
          </a:bodyPr>
          <a:lstStyle/>
          <a:p>
            <a:r>
              <a:rPr lang="en-US" sz="1050" dirty="0">
                <a:latin typeface="ADLaM Display" panose="02010000000000000000" pitchFamily="2" charset="0"/>
                <a:ea typeface="ADLaM Display" panose="02010000000000000000" pitchFamily="2" charset="0"/>
                <a:cs typeface="ADLaM Display" panose="02010000000000000000" pitchFamily="2" charset="0"/>
              </a:rPr>
              <a:t>This Project is being developed by the sole dev: Trey Runner</a:t>
            </a:r>
          </a:p>
        </p:txBody>
      </p:sp>
      <p:sp>
        <p:nvSpPr>
          <p:cNvPr id="19" name="TextBox 18">
            <a:extLst>
              <a:ext uri="{FF2B5EF4-FFF2-40B4-BE49-F238E27FC236}">
                <a16:creationId xmlns:a16="http://schemas.microsoft.com/office/drawing/2014/main" id="{49422319-95E0-1CEB-9C45-F79A0A26FB57}"/>
              </a:ext>
            </a:extLst>
          </p:cNvPr>
          <p:cNvSpPr txBox="1"/>
          <p:nvPr/>
        </p:nvSpPr>
        <p:spPr>
          <a:xfrm>
            <a:off x="247650" y="476159"/>
            <a:ext cx="5391150" cy="584775"/>
          </a:xfrm>
          <a:prstGeom prst="rect">
            <a:avLst/>
          </a:prstGeom>
          <a:noFill/>
        </p:spPr>
        <p:txBody>
          <a:bodyPr wrap="square" rtlCol="0">
            <a:spAutoFit/>
          </a:bodyPr>
          <a:lstStyle/>
          <a:p>
            <a:r>
              <a:rPr lang="en-US" sz="3200" dirty="0">
                <a:latin typeface="ADLaM Display" panose="020F0502020204030204" pitchFamily="2" charset="0"/>
                <a:ea typeface="ADLaM Display" panose="020F0502020204030204" pitchFamily="2" charset="0"/>
                <a:cs typeface="ADLaM Display" panose="020F0502020204030204" pitchFamily="2" charset="0"/>
              </a:rPr>
              <a:t>Project: ModSortOrder</a:t>
            </a:r>
          </a:p>
        </p:txBody>
      </p:sp>
      <p:pic>
        <p:nvPicPr>
          <p:cNvPr id="21" name="Picture 20">
            <a:extLst>
              <a:ext uri="{FF2B5EF4-FFF2-40B4-BE49-F238E27FC236}">
                <a16:creationId xmlns:a16="http://schemas.microsoft.com/office/drawing/2014/main" id="{1F316B41-25DF-A0C2-F5D2-2EBA87833E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92433" y="476159"/>
            <a:ext cx="3659342" cy="3975149"/>
          </a:xfrm>
          <a:prstGeom prst="rect">
            <a:avLst/>
          </a:prstGeom>
        </p:spPr>
      </p:pic>
      <p:sp>
        <p:nvSpPr>
          <p:cNvPr id="22" name="TextBox 21">
            <a:extLst>
              <a:ext uri="{FF2B5EF4-FFF2-40B4-BE49-F238E27FC236}">
                <a16:creationId xmlns:a16="http://schemas.microsoft.com/office/drawing/2014/main" id="{C2CE6EEB-7E44-FB87-061A-768BD770D97A}"/>
              </a:ext>
            </a:extLst>
          </p:cNvPr>
          <p:cNvSpPr txBox="1"/>
          <p:nvPr/>
        </p:nvSpPr>
        <p:spPr>
          <a:xfrm>
            <a:off x="247650" y="4241817"/>
            <a:ext cx="3510864" cy="1477328"/>
          </a:xfrm>
          <a:prstGeom prst="rect">
            <a:avLst/>
          </a:prstGeom>
          <a:noFill/>
        </p:spPr>
        <p:txBody>
          <a:bodyPr wrap="square" rtlCol="0">
            <a:spAutoFit/>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Most premade mod collections are already sorted into the order they need to be to work optimally- but this isn’t always the case!</a:t>
            </a:r>
          </a:p>
        </p:txBody>
      </p:sp>
      <p:sp>
        <p:nvSpPr>
          <p:cNvPr id="23" name="TextBox 22">
            <a:extLst>
              <a:ext uri="{FF2B5EF4-FFF2-40B4-BE49-F238E27FC236}">
                <a16:creationId xmlns:a16="http://schemas.microsoft.com/office/drawing/2014/main" id="{96C8A693-27C5-175E-EFC8-BDDF181989AD}"/>
              </a:ext>
            </a:extLst>
          </p:cNvPr>
          <p:cNvSpPr txBox="1"/>
          <p:nvPr/>
        </p:nvSpPr>
        <p:spPr>
          <a:xfrm>
            <a:off x="3985311" y="4124285"/>
            <a:ext cx="3510864" cy="2585323"/>
          </a:xfrm>
          <a:prstGeom prst="rect">
            <a:avLst/>
          </a:prstGeom>
          <a:noFill/>
        </p:spPr>
        <p:txBody>
          <a:bodyPr wrap="square" rtlCol="0">
            <a:spAutoFit/>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Here is an example of a well-designed collection (AKA Mod packs) used by many modders around the world. With the high priority load order items higher in the queue than those that depend on it. IE; Framework comes before dependencies.</a:t>
            </a:r>
          </a:p>
        </p:txBody>
      </p:sp>
      <p:sp>
        <p:nvSpPr>
          <p:cNvPr id="24" name="TextBox 23">
            <a:extLst>
              <a:ext uri="{FF2B5EF4-FFF2-40B4-BE49-F238E27FC236}">
                <a16:creationId xmlns:a16="http://schemas.microsoft.com/office/drawing/2014/main" id="{10EAAC10-9C37-7230-F2AC-3E70E189C123}"/>
              </a:ext>
            </a:extLst>
          </p:cNvPr>
          <p:cNvSpPr txBox="1"/>
          <p:nvPr/>
        </p:nvSpPr>
        <p:spPr>
          <a:xfrm>
            <a:off x="7644653" y="4600432"/>
            <a:ext cx="4107122" cy="2246769"/>
          </a:xfrm>
          <a:prstGeom prst="rect">
            <a:avLst/>
          </a:prstGeom>
          <a:noFill/>
        </p:spPr>
        <p:txBody>
          <a:bodyPr wrap="square" rtlCol="0">
            <a:spAutoFit/>
          </a:bodyPr>
          <a:lstStyle/>
          <a:p>
            <a:r>
              <a:rPr lang="en-US" sz="1400" dirty="0">
                <a:latin typeface="ADLaM Display" panose="02010000000000000000" pitchFamily="2" charset="0"/>
                <a:ea typeface="ADLaM Display" panose="02010000000000000000" pitchFamily="2" charset="0"/>
                <a:cs typeface="ADLaM Display" panose="02010000000000000000" pitchFamily="2" charset="0"/>
              </a:rPr>
              <a:t>My code receives the ID of a collection by your input- </a:t>
            </a:r>
            <a:r>
              <a:rPr lang="en-US" sz="1400" b="1" i="1" dirty="0">
                <a:latin typeface="ADLaM Display" panose="02010000000000000000" pitchFamily="2" charset="0"/>
                <a:ea typeface="ADLaM Display" panose="02010000000000000000" pitchFamily="2" charset="0"/>
                <a:cs typeface="ADLaM Display" panose="02010000000000000000" pitchFamily="2" charset="0"/>
              </a:rPr>
              <a:t>even one that is freshly created by you</a:t>
            </a:r>
            <a:r>
              <a:rPr lang="en-US" sz="1400" dirty="0">
                <a:latin typeface="ADLaM Display" panose="02010000000000000000" pitchFamily="2" charset="0"/>
                <a:ea typeface="ADLaM Display" panose="02010000000000000000" pitchFamily="2" charset="0"/>
                <a:cs typeface="ADLaM Display" panose="02010000000000000000" pitchFamily="2" charset="0"/>
              </a:rPr>
              <a:t>- and sorts the mods within into 7 different categories based on priority. This is particularly useful for amateur mod pack developers and those that have never modified one before. This does not directly alter the collection but produces a guide with load order so you can manually alter to fit the requirements. </a:t>
            </a:r>
          </a:p>
        </p:txBody>
      </p:sp>
    </p:spTree>
    <p:extLst>
      <p:ext uri="{BB962C8B-B14F-4D97-AF65-F5344CB8AC3E}">
        <p14:creationId xmlns:p14="http://schemas.microsoft.com/office/powerpoint/2010/main" val="20376799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19</TotalTime>
  <Words>159</Words>
  <Application>Microsoft Office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ADLaM Display</vt:lpstr>
      <vt:lpstr>Arial</vt:lpstr>
      <vt:lpstr>Century Gothic</vt:lpstr>
      <vt:lpstr>Mesh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Trey Runner</dc:creator>
  <cp:lastModifiedBy>Trey Runner</cp:lastModifiedBy>
  <cp:revision>1</cp:revision>
  <dcterms:created xsi:type="dcterms:W3CDTF">2026-05-02T00:13:26Z</dcterms:created>
  <dcterms:modified xsi:type="dcterms:W3CDTF">2026-05-02T00:32:59Z</dcterms:modified>
</cp:coreProperties>
</file>